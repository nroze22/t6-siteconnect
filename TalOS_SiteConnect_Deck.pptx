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457200"/>
            <a:ext cx="5486400" cy="5486400"/>
          </a:xfrm>
          <a:prstGeom prst="ellipse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/Users/nathanrozendaal/talos-siteconnect/public/t6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4630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TalOS SiteConnect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828800" y="347472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Clinical Trial Screening Engine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828800" y="402336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On-Premise  ·  Zero PHI Exposure  ·  FDA-Aligned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C0F17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Overview  ·  Features  ·  Validation  ·  Architecture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0" y="6400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 — 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" name="Image 0" descr="/Users/nathanrozendaal/talos-siteconnect/public/t6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20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TalOS SiteConnect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24712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sites lose eligible patients every day to slow, manual screening processes.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651760"/>
            <a:ext cx="384048" cy="384048"/>
          </a:xfrm>
          <a:prstGeom prst="ellipse">
            <a:avLst/>
          </a:prstGeom>
          <a:solidFill>
            <a:srgbClr val="EF4444">
              <a:alpha val="15000"/>
            </a:srgbClr>
          </a:solidFill>
          <a:ln w="635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2-4 hours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43000" y="2926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patient for manual chart review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06240" y="246888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2651760"/>
            <a:ext cx="384048" cy="384048"/>
          </a:xfrm>
          <a:prstGeom prst="ellipse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9204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Spreadsheet chaos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892040" y="2926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audit trail, no accountability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55280" y="246888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38160" y="2651760"/>
            <a:ext cx="384048" cy="384048"/>
          </a:xfrm>
          <a:prstGeom prst="ellipse">
            <a:avLst/>
          </a:prstGeom>
          <a:solidFill>
            <a:srgbClr val="EF4444">
              <a:alpha val="15000"/>
            </a:srgbClr>
          </a:solidFill>
          <a:ln w="635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3816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🔓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64108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PHI at risk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641080" y="2926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tools expose patient data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416052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0080" y="4343400"/>
            <a:ext cx="384048" cy="384048"/>
          </a:xfrm>
          <a:prstGeom prst="ellipse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💸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43000" y="4297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Revenue lost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143000" y="4617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financial visibility pre-commitment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06240" y="416052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389120" y="4343400"/>
            <a:ext cx="384048" cy="384048"/>
          </a:xfrm>
          <a:prstGeom prst="ellipse">
            <a:avLst/>
          </a:prstGeom>
          <a:solidFill>
            <a:srgbClr val="EF4444">
              <a:alpha val="15000"/>
            </a:srgbClr>
          </a:solidFill>
          <a:ln w="635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389120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892040" y="4297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Missed patients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4892040" y="4617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Eligible patients hidden in EHR data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955280" y="416052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138160" y="4343400"/>
            <a:ext cx="384048" cy="384048"/>
          </a:xfrm>
          <a:prstGeom prst="ellipse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138160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641080" y="4297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analytics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8641080" y="4617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Guesswork instead of data-driven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/Users/nathanrozendaal/talos-siteconnect/public/t6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20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TalOS SiteConnect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24712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57200" y="1965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desktop app that turns your EHR into a patient-finding machine — 100% offline, zero PHI exposure.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254203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18CF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47ms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548640" y="30175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screening time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377440" y="246888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377440" y="254203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2468880" y="30175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 records exposed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297680" y="246888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297680" y="254203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10x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4389120" y="30175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than manual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217920" y="246888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217920" y="254203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94%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6309360" y="30175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accuracy vs PI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37947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Two-tier AI screening (rule-based + on-device LLM)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417880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Three-panel clinical review workspace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456285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therapeutic archetypes with revenue modeling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494690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Monte Carlo enrollment forecasting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533095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FDA diversity compliance analytics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17920" y="37947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SQLCipher AES-256 encrypted database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217920" y="417880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HMAC-chained tamper-evident audit trail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217920" y="456285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CSV import with auto column mapping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217920" y="494690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ClinicalTrials.gov integration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217920" y="533095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reports &amp; sponsor pitch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/Users/nathanrozendaal/talos-siteconnect/public/t6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20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TalOS SiteConnect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24712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06B6D4">
              <a:alpha val="12000"/>
            </a:srgbClr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Enterprise-Grade Technology, Desktop Simplicity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2423160"/>
            <a:ext cx="54864" cy="457200"/>
          </a:xfrm>
          <a:prstGeom prst="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395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Tauri v2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2788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Rust + WebView2 runtime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228600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29000" y="2423160"/>
            <a:ext cx="54864" cy="457200"/>
          </a:xfrm>
          <a:prstGeom prst="rect">
            <a:avLst>
              <a:gd name="adj" fmla="val 50000"/>
            </a:avLst>
          </a:prstGeom>
          <a:solidFill>
            <a:srgbClr val="A855F7"/>
          </a:solidFill>
          <a:ln/>
        </p:spPr>
      </p:sp>
      <p:sp>
        <p:nvSpPr>
          <p:cNvPr id="15" name="Text 12"/>
          <p:cNvSpPr/>
          <p:nvPr/>
        </p:nvSpPr>
        <p:spPr>
          <a:xfrm>
            <a:off x="3611880" y="2395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BioMistral-7B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611880" y="2788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On-device LLM via llama.cpp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26480" y="228600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63640" y="2423160"/>
            <a:ext cx="54864" cy="457200"/>
          </a:xfrm>
          <a:prstGeom prst="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2395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SQLCipher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46520" y="2788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AES-256-CBC encryption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961120" y="228600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098280" y="2423160"/>
            <a:ext cx="54864" cy="457200"/>
          </a:xfrm>
          <a:prstGeom prst="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23" name="Text 20"/>
          <p:cNvSpPr/>
          <p:nvPr/>
        </p:nvSpPr>
        <p:spPr>
          <a:xfrm>
            <a:off x="9281160" y="23957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React 19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281160" y="2788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 strict + Vite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84048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94360" y="3977640"/>
            <a:ext cx="54864" cy="457200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777240" y="39502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HMAC Chain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77240" y="4343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Tamper-evident audit trail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91840" y="384048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429000" y="3977640"/>
            <a:ext cx="54864" cy="457200"/>
          </a:xfrm>
          <a:prstGeom prst="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31" name="Text 28"/>
          <p:cNvSpPr/>
          <p:nvPr/>
        </p:nvSpPr>
        <p:spPr>
          <a:xfrm>
            <a:off x="3611880" y="39502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 CFR Part 11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611880" y="4343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FDA-aligned controls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126480" y="384048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263640" y="3977640"/>
            <a:ext cx="54864" cy="457200"/>
          </a:xfrm>
          <a:prstGeom prst="rect">
            <a:avLst>
              <a:gd name="adj" fmla="val 50000"/>
            </a:avLst>
          </a:prstGeom>
          <a:solidFill>
            <a:srgbClr val="818CF8"/>
          </a:solidFill>
          <a:ln/>
        </p:spPr>
      </p:sp>
      <p:sp>
        <p:nvSpPr>
          <p:cNvPr id="35" name="Text 32"/>
          <p:cNvSpPr/>
          <p:nvPr/>
        </p:nvSpPr>
        <p:spPr>
          <a:xfrm>
            <a:off x="6446520" y="39502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IQ/OQ/PQ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446520" y="4343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103 unit + 17 E2E tests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961120" y="384048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9098280" y="3977640"/>
            <a:ext cx="54864" cy="45720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39" name="Text 36"/>
          <p:cNvSpPr/>
          <p:nvPr/>
        </p:nvSpPr>
        <p:spPr>
          <a:xfrm>
            <a:off x="9281160" y="39502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macOS + Windows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281160" y="4343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desktop application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57200" y="5486400"/>
            <a:ext cx="11274552" cy="1005840"/>
          </a:xfrm>
          <a:prstGeom prst="roundRect">
            <a:avLst>
              <a:gd name="adj" fmla="val 10909"/>
            </a:avLst>
          </a:prstGeom>
          <a:solidFill>
            <a:srgbClr val="0C0F17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137160" y="5577840"/>
            <a:ext cx="86727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CSV/EHR Import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004433" y="5577840"/>
            <a:ext cx="86727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871706" y="5577840"/>
            <a:ext cx="86727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 Mapping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2738980" y="5577840"/>
            <a:ext cx="86727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3606253" y="5577840"/>
            <a:ext cx="86727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SQLCipher DB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473526" y="5577840"/>
            <a:ext cx="86727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5340799" y="5577840"/>
            <a:ext cx="86727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Engine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208073" y="5577840"/>
            <a:ext cx="86727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7075346" y="5577840"/>
            <a:ext cx="86727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(Tier 2)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7942619" y="5577840"/>
            <a:ext cx="86727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809892" y="5577840"/>
            <a:ext cx="86727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Queue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677166" y="5577840"/>
            <a:ext cx="86727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10544439" y="5577840"/>
            <a:ext cx="86727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Export/Report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/Users/nathanrozendaal/talos-siteconnect/public/t6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20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TalOS SiteConnect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24712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472184" cy="292608"/>
          </a:xfrm>
          <a:prstGeom prst="roundRect">
            <a:avLst>
              <a:gd name="adj" fmla="val 50000"/>
            </a:avLst>
          </a:prstGeom>
          <a:solidFill>
            <a:srgbClr val="6366F1">
              <a:alpha val="12000"/>
            </a:srgbClr>
          </a:solidFill>
          <a:ln w="635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1472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ENGINE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Two-Tier AI Screening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11520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194560"/>
            <a:ext cx="53949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TIER 1 — Rule-Based Engine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47ms average per patient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31520" y="32004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AgeRange — min/max bounds check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35204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GenderIs — exact match (case-insensitive)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38404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HasDiagnosis — ICD-10 prefix matching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" y="41605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NoDiagnosis — absence verification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44805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HasMedication — drug name matching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48006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NoMedication — absence verification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51206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LabValueRange — threshold validation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31520" y="54406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VitalRange — vital sign bounds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31520" y="57607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And/Or — boolean combinators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309360" y="219456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11520"/>
          </a:solidFill>
          <a:ln w="63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2194560"/>
            <a:ext cx="539496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TIER 2 — On-Device LLM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58368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2.3s for complex criteria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6583680" y="32004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BioMistral-7B (medical-tuned Mistral)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583680" y="35204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 via llama.cpp sidecar process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583680" y="38404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API calls — fully local inference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583680" y="41605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JSON output with confidence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583680" y="44805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Conservative defaults (flags for review)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583680" y="48006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Graceful degradation when offline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583680" y="51206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GGUF model hot-swap support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583680" y="54406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 monitoring &amp; auto-restart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583680" y="57607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 only — no network exposure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/Users/nathanrozendaal/talos-siteconnect/public/t6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20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TalOS SiteConnect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24712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6366F1">
              <a:alpha val="12000"/>
            </a:srgbClr>
          </a:solidFill>
          <a:ln w="635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SCREENING UI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Three-Panel Clinical Review Workspace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57200" y="2011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Ranked patients → Criteria evaluation → Source EHR data — all linked with evidence highlighting.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560320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111520"/>
          </a:solidFill>
          <a:ln w="63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560320"/>
            <a:ext cx="329184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697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Patient Rank Panel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3154680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161B2A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17296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PAT-001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" y="33832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62F · NSCLC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880360" y="32004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40080" y="3749040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37673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PAT-004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7240" y="39776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58M · NSCLC III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880360" y="379476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88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40080" y="4343400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43616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PAT-007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77240" y="45720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71M · Adeno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880360" y="438912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74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40080" y="4937760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49560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PAT-012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77240" y="51663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45F · Squam.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880360" y="498348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68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40080" y="5532120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" y="55504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PAT-009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77240" y="57607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55M · SCLC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880360" y="557784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31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3977640" y="256032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111520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977640" y="2560320"/>
            <a:ext cx="40233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2"/>
          <p:cNvSpPr/>
          <p:nvPr/>
        </p:nvSpPr>
        <p:spPr>
          <a:xfrm>
            <a:off x="416052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Criteria Evaluation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4160520" y="3200400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251960" y="3246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4617720" y="321868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≥ 18 years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617720" y="34472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  ·  Rule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160520" y="3794760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251960" y="38404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4617720" y="38130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NSCLC with documented histology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617720" y="404164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  ·  AI 94%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160520" y="4389120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251960" y="44348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4617720" y="44074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ECOG performance status 0-1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617720" y="463600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  ·  AI 87%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160520" y="4983480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251960" y="50292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4617720" y="50017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prior systemic therapy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617720" y="523036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Unknown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160520" y="5577840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251960" y="56235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4617720" y="55961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Adequate organ function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4617720" y="582472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  ·  Rule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8229600" y="2560320"/>
            <a:ext cx="3502152" cy="3840480"/>
          </a:xfrm>
          <a:prstGeom prst="roundRect">
            <a:avLst>
              <a:gd name="adj" fmla="val 3133"/>
            </a:avLst>
          </a:prstGeom>
          <a:solidFill>
            <a:srgbClr val="111520"/>
          </a:solidFill>
          <a:ln w="63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8229600" y="2560320"/>
            <a:ext cx="3502152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8" name="Text 55"/>
          <p:cNvSpPr/>
          <p:nvPr/>
        </p:nvSpPr>
        <p:spPr>
          <a:xfrm>
            <a:off x="8412480" y="2697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 EHR Data</a:t>
            </a:r>
            <a:endParaRPr lang="en-US" sz="1400" dirty="0"/>
          </a:p>
        </p:txBody>
      </p:sp>
      <p:sp>
        <p:nvSpPr>
          <p:cNvPr id="59" name="Text 56"/>
          <p:cNvSpPr/>
          <p:nvPr/>
        </p:nvSpPr>
        <p:spPr>
          <a:xfrm>
            <a:off x="8412480" y="3108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9006840" y="3108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Dx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9601200" y="3108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Meds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10195560" y="3108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Labs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10789920" y="3108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Vitals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8321040" y="3410712"/>
            <a:ext cx="3291840" cy="347472"/>
          </a:xfrm>
          <a:prstGeom prst="rect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65" name="Text 62"/>
          <p:cNvSpPr/>
          <p:nvPr/>
        </p:nvSpPr>
        <p:spPr>
          <a:xfrm>
            <a:off x="845820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ICD-10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960120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C34.1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8321040" y="3794760"/>
            <a:ext cx="3291840" cy="347472"/>
          </a:xfrm>
          <a:prstGeom prst="rect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68" name="Text 65"/>
          <p:cNvSpPr/>
          <p:nvPr/>
        </p:nvSpPr>
        <p:spPr>
          <a:xfrm>
            <a:off x="8458200" y="38130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9601200" y="3813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NSCLC, upper lobe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8458200" y="41970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Dx Date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9601200" y="41970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2024-01-15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8458200" y="45811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9601200" y="45811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8458200" y="49651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ICD-10</a:t>
            </a: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9601200" y="4965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E11.9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8458200" y="5349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9601200" y="5349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2 DM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/Users/nathanrozendaal/talos-siteconnect/public/t6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20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TalOS SiteConnect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24712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2578608" cy="292608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257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INTELLIGENCE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Know What Every Trial Is Worth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22677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18CF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18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48640" y="2743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Therapeutic archetypes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77440" y="219456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377440" y="22677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2468880" y="2743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models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297680" y="219456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297680" y="22677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¢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4389120" y="2743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Integer-cent precision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217920" y="219456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217920" y="22677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FMV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6309360" y="2743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Validated rates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347472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111520"/>
          </a:solidFill>
          <a:ln w="63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3474720"/>
            <a:ext cx="356616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CONSERVATIVE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0080" y="3931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$612K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640080" y="4480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 patients · low consent rate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297680" y="347472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111520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297680" y="3474720"/>
            <a:ext cx="35661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5"/>
          <p:cNvSpPr/>
          <p:nvPr/>
        </p:nvSpPr>
        <p:spPr>
          <a:xfrm>
            <a:off x="448056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CASE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480560" y="3931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$847K</a:t>
            </a:r>
            <a:endParaRPr lang="en-US" sz="3600" dirty="0"/>
          </a:p>
        </p:txBody>
      </p:sp>
      <p:sp>
        <p:nvSpPr>
          <p:cNvPr id="30" name="Text 27"/>
          <p:cNvSpPr/>
          <p:nvPr/>
        </p:nvSpPr>
        <p:spPr>
          <a:xfrm>
            <a:off x="4480560" y="4480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 patients · standard assumptions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38160" y="347472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111520"/>
          </a:solidFill>
          <a:ln w="63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138160" y="3474720"/>
            <a:ext cx="356616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0"/>
          <p:cNvSpPr/>
          <p:nvPr/>
        </p:nvSpPr>
        <p:spPr>
          <a:xfrm>
            <a:off x="832104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OPTIMISTIC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321040" y="3931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$1.12M</a:t>
            </a:r>
            <a:endParaRPr lang="en-US" sz="3600" dirty="0"/>
          </a:p>
        </p:txBody>
      </p:sp>
      <p:sp>
        <p:nvSpPr>
          <p:cNvPr id="35" name="Text 32"/>
          <p:cNvSpPr/>
          <p:nvPr/>
        </p:nvSpPr>
        <p:spPr>
          <a:xfrm>
            <a:off x="8321040" y="4480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 patients · high retention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57200" y="53492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Per-patient revenue modeling with 18 therapeutic archetypes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57200" y="5678424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 fit scoring based on capabilities, patient mix, and infrastructure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57200" y="60076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Per-visit cost breakdown: coordinator time, PI time, overhead, procedures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57200" y="633679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Sponsor-ready financial summaries for budget negotiations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/Users/nathanrozendaal/talos-siteconnect/public/t6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20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TalOS SiteConnect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24712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1271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Population Intelligence Engine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Feasibility Queries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468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Multi-criteria patient cohort analysis with preset and custom queries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880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Enrollment Forecasting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3154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Monte Carlo simulation with configurable consent rates and P10-P90 bands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566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Diversity Profiling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FDA compliance checks: age, sex, race, ethnicity breakdowns with scoring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251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Cross-Filter Dashboards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4526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 any chart element — every view updates instantly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937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Drill-Down Analysis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5212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aggregate metric to individual patient records in one click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5623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Snapshot Comparison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5897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 analytics snapshots, compare scenarios side-by-side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17920" y="219456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0080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Population Intelligence Dashboard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92240" y="274320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Eligible Pool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9224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247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8183880" y="274320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 Rate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18388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68%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9875520" y="274320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P(Success)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87552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82%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6537960" y="3817620"/>
            <a:ext cx="256032" cy="1303020"/>
          </a:xfrm>
          <a:prstGeom prst="rect">
            <a:avLst>
              <a:gd name="adj" fmla="val 10714"/>
            </a:avLst>
          </a:prstGeom>
          <a:solidFill>
            <a:srgbClr val="10B981">
              <a:alpha val="5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922008" y="3913632"/>
            <a:ext cx="256032" cy="1207008"/>
          </a:xfrm>
          <a:prstGeom prst="rect">
            <a:avLst>
              <a:gd name="adj" fmla="val 10714"/>
            </a:avLst>
          </a:prstGeom>
          <a:solidFill>
            <a:srgbClr val="10B981">
              <a:alpha val="5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7306056" y="4133088"/>
            <a:ext cx="256032" cy="987552"/>
          </a:xfrm>
          <a:prstGeom prst="rect">
            <a:avLst>
              <a:gd name="adj" fmla="val 10714"/>
            </a:avLst>
          </a:prstGeom>
          <a:solidFill>
            <a:srgbClr val="10B981">
              <a:alpha val="5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7690104" y="3954780"/>
            <a:ext cx="256032" cy="1165860"/>
          </a:xfrm>
          <a:prstGeom prst="rect">
            <a:avLst>
              <a:gd name="adj" fmla="val 10714"/>
            </a:avLst>
          </a:prstGeom>
          <a:solidFill>
            <a:srgbClr val="10B981">
              <a:alpha val="5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8074152" y="4297680"/>
            <a:ext cx="256032" cy="822960"/>
          </a:xfrm>
          <a:prstGeom prst="rect">
            <a:avLst>
              <a:gd name="adj" fmla="val 10714"/>
            </a:avLst>
          </a:prstGeom>
          <a:solidFill>
            <a:srgbClr val="F59E0B">
              <a:alpha val="5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8458200" y="4503420"/>
            <a:ext cx="256032" cy="617220"/>
          </a:xfrm>
          <a:prstGeom prst="rect">
            <a:avLst>
              <a:gd name="adj" fmla="val 10714"/>
            </a:avLst>
          </a:prstGeom>
          <a:solidFill>
            <a:srgbClr val="F59E0B">
              <a:alpha val="5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8842248" y="3995928"/>
            <a:ext cx="256032" cy="1124712"/>
          </a:xfrm>
          <a:prstGeom prst="rect">
            <a:avLst>
              <a:gd name="adj" fmla="val 10714"/>
            </a:avLst>
          </a:prstGeom>
          <a:solidFill>
            <a:srgbClr val="10B981">
              <a:alpha val="5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9226296" y="4709160"/>
            <a:ext cx="256032" cy="411480"/>
          </a:xfrm>
          <a:prstGeom prst="rect">
            <a:avLst>
              <a:gd name="adj" fmla="val 10714"/>
            </a:avLst>
          </a:prstGeom>
          <a:solidFill>
            <a:srgbClr val="EF4444">
              <a:alpha val="50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9610344" y="4050792"/>
            <a:ext cx="256032" cy="1069848"/>
          </a:xfrm>
          <a:prstGeom prst="rect">
            <a:avLst>
              <a:gd name="adj" fmla="val 10714"/>
            </a:avLst>
          </a:prstGeom>
          <a:solidFill>
            <a:srgbClr val="10B981">
              <a:alpha val="50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9994392" y="4366260"/>
            <a:ext cx="256032" cy="754380"/>
          </a:xfrm>
          <a:prstGeom prst="rect">
            <a:avLst>
              <a:gd name="adj" fmla="val 10714"/>
            </a:avLst>
          </a:prstGeom>
          <a:solidFill>
            <a:srgbClr val="F59E0B">
              <a:alpha val="5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10378440" y="3858768"/>
            <a:ext cx="256032" cy="1261872"/>
          </a:xfrm>
          <a:prstGeom prst="rect">
            <a:avLst>
              <a:gd name="adj" fmla="val 10714"/>
            </a:avLst>
          </a:prstGeom>
          <a:solidFill>
            <a:srgbClr val="10B981">
              <a:alpha val="5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10762488" y="4572000"/>
            <a:ext cx="256032" cy="548640"/>
          </a:xfrm>
          <a:prstGeom prst="rect">
            <a:avLst>
              <a:gd name="adj" fmla="val 10714"/>
            </a:avLst>
          </a:prstGeom>
          <a:solidFill>
            <a:srgbClr val="EF4444">
              <a:alpha val="5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6400800" y="53035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Criteria Match Distribution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400800" y="5669280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6492240" y="5715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Diversity Score: 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772400" y="57150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76/100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/Users/nathanrozendaal/talos-siteconnect/public/t6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20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TalOS SiteConnect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24712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Built for the Most Regulated Industry on Earth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111520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286000"/>
            <a:ext cx="34747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514600"/>
            <a:ext cx="384048" cy="384048"/>
          </a:xfrm>
          <a:prstGeom prst="ellipse">
            <a:avLst/>
          </a:prstGeom>
          <a:solidFill>
            <a:srgbClr val="10B981">
              <a:alpha val="15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8872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AES-256 Encryption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5800" y="2926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SQLCipher with user-controlled passphrase. PBKDF2 256K iterations.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06240" y="228600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111520"/>
          </a:solidFill>
          <a:ln w="63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06240" y="2286000"/>
            <a:ext cx="347472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7" name="Shape 14"/>
          <p:cNvSpPr/>
          <p:nvPr/>
        </p:nvSpPr>
        <p:spPr>
          <a:xfrm>
            <a:off x="4434840" y="2514600"/>
            <a:ext cx="384048" cy="384048"/>
          </a:xfrm>
          <a:prstGeom prst="ellipse">
            <a:avLst/>
          </a:prstGeom>
          <a:solidFill>
            <a:srgbClr val="6366F1">
              <a:alpha val="15000"/>
            </a:srgbClr>
          </a:solidFill>
          <a:ln w="635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3484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93776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HMAC Audit Chain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34840" y="2926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SHA-256 checksums chained. Any modification breaks the chain instantly.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955280" y="228600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111520"/>
          </a:solidFill>
          <a:ln w="63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955280" y="2286000"/>
            <a:ext cx="34747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Shape 20"/>
          <p:cNvSpPr/>
          <p:nvPr/>
        </p:nvSpPr>
        <p:spPr>
          <a:xfrm>
            <a:off x="8183880" y="2514600"/>
            <a:ext cx="384048" cy="384048"/>
          </a:xfrm>
          <a:prstGeom prst="ellipse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68680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100% On-Premise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183880" y="2926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internet required. No telemetry. No analytics. Air-gap compatible.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438912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111520"/>
          </a:solidFill>
          <a:ln w="63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" y="4389120"/>
            <a:ext cx="347472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9" name="Shape 26"/>
          <p:cNvSpPr/>
          <p:nvPr/>
        </p:nvSpPr>
        <p:spPr>
          <a:xfrm>
            <a:off x="685800" y="4617720"/>
            <a:ext cx="384048" cy="384048"/>
          </a:xfrm>
          <a:prstGeom prst="ellipse">
            <a:avLst/>
          </a:prstGeom>
          <a:solidFill>
            <a:srgbClr val="A855F7">
              <a:alpha val="15000"/>
            </a:srgbClr>
          </a:solidFill>
          <a:ln w="635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🧬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88720" y="4572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On-Device AI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85800" y="5029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BioMistral runs locally. Zero patient data sent to any API.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206240" y="438912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111520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206240" y="4389120"/>
            <a:ext cx="34747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Shape 32"/>
          <p:cNvSpPr/>
          <p:nvPr/>
        </p:nvSpPr>
        <p:spPr>
          <a:xfrm>
            <a:off x="4434840" y="4617720"/>
            <a:ext cx="384048" cy="384048"/>
          </a:xfrm>
          <a:prstGeom prst="ellipse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43484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🏥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4937760" y="4572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HIPAA-Ready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434840" y="5029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access, session timeouts, screen lock — all configurable.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7955280" y="438912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111520"/>
          </a:solidFill>
          <a:ln w="63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955280" y="4389120"/>
            <a:ext cx="34747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Shape 38"/>
          <p:cNvSpPr/>
          <p:nvPr/>
        </p:nvSpPr>
        <p:spPr>
          <a:xfrm>
            <a:off x="8183880" y="4617720"/>
            <a:ext cx="384048" cy="384048"/>
          </a:xfrm>
          <a:prstGeom prst="ellipse">
            <a:avLst/>
          </a:prstGeom>
          <a:solidFill>
            <a:srgbClr val="EF4444">
              <a:alpha val="15000"/>
            </a:srgbClr>
          </a:solidFill>
          <a:ln w="635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18388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📜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686800" y="4572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 CFR Part 11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183880" y="5029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Electronic records, signatures, audit trails aligned with FDA regs.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/Users/nathanrozendaal/talos-siteconnect/public/t6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20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TalOS SiteConnect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24712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6366F1">
              <a:alpha val="12000"/>
            </a:srgbClr>
          </a:solidFill>
          <a:ln w="635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Complete Module Map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54864" cy="822960"/>
          </a:xfrm>
          <a:prstGeom prst="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1031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 Screening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3957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rule types, LLM tier 2, batch processing, confidence scores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06240" y="2103120"/>
            <a:ext cx="54864" cy="822960"/>
          </a:xfrm>
          <a:prstGeom prst="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4389120" y="21031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Three-Panel Review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389120" y="23957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rank, criteria eval, source data, evidence highlighting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955280" y="2103120"/>
            <a:ext cx="54864" cy="822960"/>
          </a:xfrm>
          <a:prstGeom prst="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16" name="Text 13"/>
          <p:cNvSpPr/>
          <p:nvPr/>
        </p:nvSpPr>
        <p:spPr>
          <a:xfrm>
            <a:off x="8138160" y="21031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Trial Discovery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38160" y="23957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ClinicalTrials.gov, eligible counts, financial projections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200400"/>
            <a:ext cx="54864" cy="822960"/>
          </a:xfrm>
          <a:prstGeom prst="rect">
            <a:avLst>
              <a:gd name="adj" fmla="val 50000"/>
            </a:avLst>
          </a:prstGeom>
          <a:solidFill>
            <a:srgbClr val="A855F7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2004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Import Wizard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349300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CSV drag-drop, auto column mapping, Epic/Cerner/Allscripts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206240" y="3200400"/>
            <a:ext cx="54864" cy="822960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4389120" y="32004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Population Analytics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389120" y="349300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Feasibility queries, diversity profiling, Monte Carlo forecast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955280" y="3200400"/>
            <a:ext cx="54864" cy="822960"/>
          </a:xfrm>
          <a:prstGeom prst="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25" name="Text 22"/>
          <p:cNvSpPr/>
          <p:nvPr/>
        </p:nvSpPr>
        <p:spPr>
          <a:xfrm>
            <a:off x="8138160" y="32004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Financial Engine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138160" y="349300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archetypes, 3 scenarios, integer cents, FMV validation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4297680"/>
            <a:ext cx="54864" cy="822960"/>
          </a:xfrm>
          <a:prstGeom prst="rect">
            <a:avLst>
              <a:gd name="adj" fmla="val 50000"/>
            </a:avLst>
          </a:prstGeom>
          <a:solidFill>
            <a:srgbClr val="818CF8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42976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Enrollment Pipeline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0080" y="459028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stages: identified → enrolled, conversion tracking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206240" y="4297680"/>
            <a:ext cx="54864" cy="822960"/>
          </a:xfrm>
          <a:prstGeom prst="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31" name="Text 28"/>
          <p:cNvSpPr/>
          <p:nvPr/>
        </p:nvSpPr>
        <p:spPr>
          <a:xfrm>
            <a:off x="4389120" y="42976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Cohort Builder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389120" y="459028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Multi-criteria queries, saved cohorts, export lists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955280" y="4297680"/>
            <a:ext cx="54864" cy="822960"/>
          </a:xfrm>
          <a:prstGeom prst="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4" name="Text 31"/>
          <p:cNvSpPr/>
          <p:nvPr/>
        </p:nvSpPr>
        <p:spPr>
          <a:xfrm>
            <a:off x="8138160" y="42976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Site Performance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138160" y="459028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Screening velocity, enrollment rates, time-to-enrollment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7200" y="5394960"/>
            <a:ext cx="54864" cy="822960"/>
          </a:xfrm>
          <a:prstGeom prst="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37" name="Text 34"/>
          <p:cNvSpPr/>
          <p:nvPr/>
        </p:nvSpPr>
        <p:spPr>
          <a:xfrm>
            <a:off x="640080" y="53949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Export &amp; Reports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568756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CSV, PDF, sponsor pitch decks, branded feasibility reports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206240" y="5394960"/>
            <a:ext cx="54864" cy="822960"/>
          </a:xfrm>
          <a:prstGeom prst="rect">
            <a:avLst>
              <a:gd name="adj" fmla="val 50000"/>
            </a:avLst>
          </a:prstGeom>
          <a:solidFill>
            <a:srgbClr val="C084FC"/>
          </a:solidFill>
          <a:ln/>
        </p:spPr>
      </p:sp>
      <p:sp>
        <p:nvSpPr>
          <p:cNvPr id="40" name="Text 37"/>
          <p:cNvSpPr/>
          <p:nvPr/>
        </p:nvSpPr>
        <p:spPr>
          <a:xfrm>
            <a:off x="4389120" y="53949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LLM Management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4389120" y="568756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config, server lifecycle, health monitoring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955280" y="5394960"/>
            <a:ext cx="54864" cy="822960"/>
          </a:xfrm>
          <a:prstGeom prst="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43" name="Text 40"/>
          <p:cNvSpPr/>
          <p:nvPr/>
        </p:nvSpPr>
        <p:spPr>
          <a:xfrm>
            <a:off x="8138160" y="53949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Security &amp; Audit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8138160" y="568756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AES-256, HMAC chain, session lock, passphrase protection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/Users/nathanrozendaal/talos-siteconnect/public/t6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20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TalOS SiteConnect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24712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6B6D4">
              <a:alpha val="12000"/>
            </a:srgbClr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IQ/OQ/PQ Validation Framework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5720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GAMP 5 Category 3/5 approach with full requirements traceability — 94 requirements mapped to 106 test cases.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65176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27249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18CF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94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548640" y="32004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 (PRD)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377440" y="265176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377440" y="27249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106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2468880" y="32004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cases mapped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297680" y="265176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297680" y="27249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103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4389120" y="32004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tests passing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217920" y="265176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217920" y="27249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23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6309360" y="32004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Rust tests passing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138160" y="265176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138160" y="27249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84F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8229600" y="32004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E2E test specs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0058400" y="265176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0058400" y="27249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717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3200" dirty="0"/>
          </a:p>
        </p:txBody>
      </p:sp>
      <p:sp>
        <p:nvSpPr>
          <p:cNvPr id="27" name="Text 24"/>
          <p:cNvSpPr/>
          <p:nvPr/>
        </p:nvSpPr>
        <p:spPr>
          <a:xfrm>
            <a:off x="10149840" y="32004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docs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7200" y="3931920"/>
            <a:ext cx="11274552" cy="2651760"/>
          </a:xfrm>
          <a:prstGeom prst="roundRect">
            <a:avLst>
              <a:gd name="adj" fmla="val 4138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40080" y="4069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Validation Documentation Suite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2296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Master Plan</a:t>
            </a:r>
            <a:pPr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—  Overall strategy, risk register, regulatory mapping, governance framework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418320" y="4526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592 lines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22960" y="49103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Requirements (PRD)</a:t>
            </a:r>
            <a:pPr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—  18 sections covering all modules with traceable requirement IDs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418320" y="4910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593 lines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22960" y="52943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 Traceability Matrix</a:t>
            </a:r>
            <a:pPr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—  94 requirements → 106 test cases with bidirectional traceability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9418320" y="52943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235 lines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22960" y="56784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IQ/OQ/PQ Protocols</a:t>
            </a:r>
            <a:pPr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—  7 IQ scripts, full OQ module tables, 9 PQ performance scripts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418320" y="56784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621 lines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22960" y="60624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 Specifications</a:t>
            </a:r>
            <a:pPr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—  109 test cases across 14 categories with preconditions &amp; expected results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9418320" y="6062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1,276 lines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/Users/nathanrozendaal/talos-siteconnect/public/t6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20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TalOS SiteConnect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24712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Test Coverage by Category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57200" y="1965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0" y="19659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0" y="19659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0" y="19659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418320" y="19659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2221992"/>
            <a:ext cx="11274552" cy="9144"/>
          </a:xfrm>
          <a:prstGeom prst="rect">
            <a:avLst/>
          </a:prstGeom>
          <a:solidFill>
            <a:srgbClr val="1A1F3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2276856"/>
            <a:ext cx="11274552" cy="246888"/>
          </a:xfrm>
          <a:prstGeom prst="rect">
            <a:avLst/>
          </a:prstGeom>
          <a:solidFill>
            <a:srgbClr val="111520">
              <a:alpha val="5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2860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Screening Engine (Rust)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29200" y="22860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00800" y="22860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772400" y="2286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passed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9418320" y="2313432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61B2A"/>
          </a:solidFill>
          <a:ln/>
        </p:spPr>
      </p:sp>
      <p:sp>
        <p:nvSpPr>
          <p:cNvPr id="21" name="Shape 18"/>
          <p:cNvSpPr/>
          <p:nvPr/>
        </p:nvSpPr>
        <p:spPr>
          <a:xfrm>
            <a:off x="9418320" y="2313432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0B981">
              <a:alpha val="6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253288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Pipeline (Rust)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29200" y="25328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00800" y="25328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772400" y="253288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passed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418320" y="2560320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61B2A"/>
          </a:solidFill>
          <a:ln/>
        </p:spPr>
      </p:sp>
      <p:sp>
        <p:nvSpPr>
          <p:cNvPr id="27" name="Shape 24"/>
          <p:cNvSpPr/>
          <p:nvPr/>
        </p:nvSpPr>
        <p:spPr>
          <a:xfrm>
            <a:off x="9418320" y="2560320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0B981">
              <a:alpha val="6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" y="2770632"/>
            <a:ext cx="11274552" cy="246888"/>
          </a:xfrm>
          <a:prstGeom prst="rect">
            <a:avLst/>
          </a:prstGeom>
          <a:solidFill>
            <a:srgbClr val="111520">
              <a:alpha val="5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277977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 (Rust)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029200" y="277977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400800" y="277977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772400" y="277977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passed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9418320" y="2807208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61B2A"/>
          </a:solidFill>
          <a:ln/>
        </p:spPr>
      </p:sp>
      <p:sp>
        <p:nvSpPr>
          <p:cNvPr id="34" name="Shape 31"/>
          <p:cNvSpPr/>
          <p:nvPr/>
        </p:nvSpPr>
        <p:spPr>
          <a:xfrm>
            <a:off x="9418320" y="2807208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0B981">
              <a:alpha val="60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3026664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Encryption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029200" y="302666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400800" y="302666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772400" y="302666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Designed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9418320" y="3054096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61B2A"/>
          </a:solidFill>
          <a:ln/>
        </p:spPr>
      </p:sp>
      <p:sp>
        <p:nvSpPr>
          <p:cNvPr id="40" name="Shape 37"/>
          <p:cNvSpPr/>
          <p:nvPr/>
        </p:nvSpPr>
        <p:spPr>
          <a:xfrm>
            <a:off x="9418320" y="3054096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F59E0B">
              <a:alpha val="6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57200" y="3264408"/>
            <a:ext cx="11274552" cy="246888"/>
          </a:xfrm>
          <a:prstGeom prst="rect">
            <a:avLst/>
          </a:prstGeom>
          <a:solidFill>
            <a:srgbClr val="111520">
              <a:alpha val="50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457200" y="327355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Schema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0" y="32735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400800" y="327355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7772400" y="32735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passed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9418320" y="3300984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61B2A"/>
          </a:solidFill>
          <a:ln/>
        </p:spPr>
      </p:sp>
      <p:sp>
        <p:nvSpPr>
          <p:cNvPr id="47" name="Shape 44"/>
          <p:cNvSpPr/>
          <p:nvPr/>
        </p:nvSpPr>
        <p:spPr>
          <a:xfrm>
            <a:off x="9418320" y="3300984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0B981">
              <a:alpha val="60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457200" y="3520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Store (TS)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029200" y="35204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400800" y="35204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7772400" y="35204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passed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9418320" y="3547872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61B2A"/>
          </a:solidFill>
          <a:ln/>
        </p:spPr>
      </p:sp>
      <p:sp>
        <p:nvSpPr>
          <p:cNvPr id="53" name="Shape 50"/>
          <p:cNvSpPr/>
          <p:nvPr/>
        </p:nvSpPr>
        <p:spPr>
          <a:xfrm>
            <a:off x="9418320" y="3547872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0B981">
              <a:alpha val="60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457200" y="3758184"/>
            <a:ext cx="11274552" cy="246888"/>
          </a:xfrm>
          <a:prstGeom prst="rect">
            <a:avLst/>
          </a:prstGeom>
          <a:solidFill>
            <a:srgbClr val="111520">
              <a:alpha val="50000"/>
            </a:srgbClr>
          </a:solidFill>
          <a:ln/>
        </p:spPr>
      </p:sp>
      <p:sp>
        <p:nvSpPr>
          <p:cNvPr id="55" name="Text 52"/>
          <p:cNvSpPr/>
          <p:nvPr/>
        </p:nvSpPr>
        <p:spPr>
          <a:xfrm>
            <a:off x="457200" y="376732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Screening Store (TS)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0" y="376732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6400800" y="376732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7772400" y="37673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passed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9418320" y="3794760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61B2A"/>
          </a:solidFill>
          <a:ln/>
        </p:spPr>
      </p:sp>
      <p:sp>
        <p:nvSpPr>
          <p:cNvPr id="60" name="Shape 57"/>
          <p:cNvSpPr/>
          <p:nvPr/>
        </p:nvSpPr>
        <p:spPr>
          <a:xfrm>
            <a:off x="9418320" y="3794760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0B981">
              <a:alpha val="60000"/>
            </a:srgbClr>
          </a:solidFill>
          <a:ln/>
        </p:spPr>
      </p:sp>
      <p:sp>
        <p:nvSpPr>
          <p:cNvPr id="61" name="Text 58"/>
          <p:cNvSpPr/>
          <p:nvPr/>
        </p:nvSpPr>
        <p:spPr>
          <a:xfrm>
            <a:off x="457200" y="40142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Engine (TS)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5029200" y="401421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6400800" y="401421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7772400" y="40142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passed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9418320" y="4041648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61B2A"/>
          </a:solidFill>
          <a:ln/>
        </p:spPr>
      </p:sp>
      <p:sp>
        <p:nvSpPr>
          <p:cNvPr id="66" name="Shape 63"/>
          <p:cNvSpPr/>
          <p:nvPr/>
        </p:nvSpPr>
        <p:spPr>
          <a:xfrm>
            <a:off x="9418320" y="4041648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0B981">
              <a:alpha val="6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457200" y="4251960"/>
            <a:ext cx="11274552" cy="246888"/>
          </a:xfrm>
          <a:prstGeom prst="rect">
            <a:avLst/>
          </a:prstGeom>
          <a:solidFill>
            <a:srgbClr val="111520">
              <a:alpha val="50000"/>
            </a:srgbClr>
          </a:solidFill>
          <a:ln/>
        </p:spPr>
      </p:sp>
      <p:sp>
        <p:nvSpPr>
          <p:cNvPr id="68" name="Text 65"/>
          <p:cNvSpPr/>
          <p:nvPr/>
        </p:nvSpPr>
        <p:spPr>
          <a:xfrm>
            <a:off x="457200" y="4261104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Population Analytics (TS)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5029200" y="426110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6400800" y="426110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7772400" y="426110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passed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9418320" y="4288536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61B2A"/>
          </a:solidFill>
          <a:ln/>
        </p:spPr>
      </p:sp>
      <p:sp>
        <p:nvSpPr>
          <p:cNvPr id="73" name="Shape 70"/>
          <p:cNvSpPr/>
          <p:nvPr/>
        </p:nvSpPr>
        <p:spPr>
          <a:xfrm>
            <a:off x="9418320" y="4288536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0B981">
              <a:alpha val="60000"/>
            </a:srgbClr>
          </a:solidFill>
          <a:ln/>
        </p:spPr>
      </p:sp>
      <p:sp>
        <p:nvSpPr>
          <p:cNvPr id="74" name="Text 71"/>
          <p:cNvSpPr/>
          <p:nvPr/>
        </p:nvSpPr>
        <p:spPr>
          <a:xfrm>
            <a:off x="457200" y="4507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CSV/PDF (TS)</a:t>
            </a: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5029200" y="45079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6400800" y="45079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7772400" y="45079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passed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9418320" y="4535424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61B2A"/>
          </a:solidFill>
          <a:ln/>
        </p:spPr>
      </p:sp>
      <p:sp>
        <p:nvSpPr>
          <p:cNvPr id="79" name="Shape 76"/>
          <p:cNvSpPr/>
          <p:nvPr/>
        </p:nvSpPr>
        <p:spPr>
          <a:xfrm>
            <a:off x="9418320" y="4535424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0B981">
              <a:alpha val="6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457200" y="4745736"/>
            <a:ext cx="11274552" cy="246888"/>
          </a:xfrm>
          <a:prstGeom prst="rect">
            <a:avLst/>
          </a:prstGeom>
          <a:solidFill>
            <a:srgbClr val="111520">
              <a:alpha val="50000"/>
            </a:srgbClr>
          </a:solidFill>
          <a:ln/>
        </p:spPr>
      </p:sp>
      <p:sp>
        <p:nvSpPr>
          <p:cNvPr id="81" name="Text 78"/>
          <p:cNvSpPr/>
          <p:nvPr/>
        </p:nvSpPr>
        <p:spPr>
          <a:xfrm>
            <a:off x="457200" y="47548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Store (TS)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5029200" y="4754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6400800" y="4754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7772400" y="47548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passed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9418320" y="4782312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61B2A"/>
          </a:solidFill>
          <a:ln/>
        </p:spPr>
      </p:sp>
      <p:sp>
        <p:nvSpPr>
          <p:cNvPr id="86" name="Shape 83"/>
          <p:cNvSpPr/>
          <p:nvPr/>
        </p:nvSpPr>
        <p:spPr>
          <a:xfrm>
            <a:off x="9418320" y="4782312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0B981">
              <a:alpha val="60000"/>
            </a:srgbClr>
          </a:solidFill>
          <a:ln/>
        </p:spPr>
      </p:sp>
      <p:sp>
        <p:nvSpPr>
          <p:cNvPr id="87" name="Text 84"/>
          <p:cNvSpPr/>
          <p:nvPr/>
        </p:nvSpPr>
        <p:spPr>
          <a:xfrm>
            <a:off x="457200" y="50017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 Profile Store (TS)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5029200" y="50017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6400800" y="50017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7772400" y="500176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passed</a:t>
            </a:r>
            <a:endParaRPr lang="en-US" sz="900" dirty="0"/>
          </a:p>
        </p:txBody>
      </p:sp>
      <p:sp>
        <p:nvSpPr>
          <p:cNvPr id="91" name="Shape 88"/>
          <p:cNvSpPr/>
          <p:nvPr/>
        </p:nvSpPr>
        <p:spPr>
          <a:xfrm>
            <a:off x="9418320" y="5029200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61B2A"/>
          </a:solidFill>
          <a:ln/>
        </p:spPr>
      </p:sp>
      <p:sp>
        <p:nvSpPr>
          <p:cNvPr id="92" name="Shape 89"/>
          <p:cNvSpPr/>
          <p:nvPr/>
        </p:nvSpPr>
        <p:spPr>
          <a:xfrm>
            <a:off x="9418320" y="5029200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0B981">
              <a:alpha val="60000"/>
            </a:srgbClr>
          </a:solidFill>
          <a:ln/>
        </p:spPr>
      </p:sp>
      <p:sp>
        <p:nvSpPr>
          <p:cNvPr id="93" name="Shape 90"/>
          <p:cNvSpPr/>
          <p:nvPr/>
        </p:nvSpPr>
        <p:spPr>
          <a:xfrm>
            <a:off x="457200" y="5239512"/>
            <a:ext cx="11274552" cy="246888"/>
          </a:xfrm>
          <a:prstGeom prst="rect">
            <a:avLst/>
          </a:prstGeom>
          <a:solidFill>
            <a:srgbClr val="111520">
              <a:alpha val="50000"/>
            </a:srgbClr>
          </a:solidFill>
          <a:ln/>
        </p:spPr>
      </p:sp>
      <p:sp>
        <p:nvSpPr>
          <p:cNvPr id="94" name="Text 91"/>
          <p:cNvSpPr/>
          <p:nvPr/>
        </p:nvSpPr>
        <p:spPr>
          <a:xfrm>
            <a:off x="457200" y="524865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E2E Navigation</a:t>
            </a:r>
            <a:endParaRPr lang="en-US" sz="900" dirty="0"/>
          </a:p>
        </p:txBody>
      </p:sp>
      <p:sp>
        <p:nvSpPr>
          <p:cNvPr id="95" name="Text 92"/>
          <p:cNvSpPr/>
          <p:nvPr/>
        </p:nvSpPr>
        <p:spPr>
          <a:xfrm>
            <a:off x="5029200" y="524865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6400800" y="524865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97" name="Text 94"/>
          <p:cNvSpPr/>
          <p:nvPr/>
        </p:nvSpPr>
        <p:spPr>
          <a:xfrm>
            <a:off x="7772400" y="524865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Designed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9418320" y="5276088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61B2A"/>
          </a:solidFill>
          <a:ln/>
        </p:spPr>
      </p:sp>
      <p:sp>
        <p:nvSpPr>
          <p:cNvPr id="99" name="Shape 96"/>
          <p:cNvSpPr/>
          <p:nvPr/>
        </p:nvSpPr>
        <p:spPr>
          <a:xfrm>
            <a:off x="9418320" y="5276088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F59E0B">
              <a:alpha val="60000"/>
            </a:srgbClr>
          </a:solidFill>
          <a:ln/>
        </p:spPr>
      </p:sp>
      <p:sp>
        <p:nvSpPr>
          <p:cNvPr id="100" name="Text 97"/>
          <p:cNvSpPr/>
          <p:nvPr/>
        </p:nvSpPr>
        <p:spPr>
          <a:xfrm>
            <a:off x="457200" y="5495544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E2E Screening</a:t>
            </a:r>
            <a:endParaRPr lang="en-US" sz="900" dirty="0"/>
          </a:p>
        </p:txBody>
      </p:sp>
      <p:sp>
        <p:nvSpPr>
          <p:cNvPr id="101" name="Text 98"/>
          <p:cNvSpPr/>
          <p:nvPr/>
        </p:nvSpPr>
        <p:spPr>
          <a:xfrm>
            <a:off x="5029200" y="549554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102" name="Text 99"/>
          <p:cNvSpPr/>
          <p:nvPr/>
        </p:nvSpPr>
        <p:spPr>
          <a:xfrm>
            <a:off x="6400800" y="549554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103" name="Text 100"/>
          <p:cNvSpPr/>
          <p:nvPr/>
        </p:nvSpPr>
        <p:spPr>
          <a:xfrm>
            <a:off x="7772400" y="549554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Designed</a:t>
            </a:r>
            <a:endParaRPr lang="en-US" sz="900" dirty="0"/>
          </a:p>
        </p:txBody>
      </p:sp>
      <p:sp>
        <p:nvSpPr>
          <p:cNvPr id="104" name="Shape 101"/>
          <p:cNvSpPr/>
          <p:nvPr/>
        </p:nvSpPr>
        <p:spPr>
          <a:xfrm>
            <a:off x="9418320" y="5522976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61B2A"/>
          </a:solidFill>
          <a:ln/>
        </p:spPr>
      </p:sp>
      <p:sp>
        <p:nvSpPr>
          <p:cNvPr id="105" name="Shape 102"/>
          <p:cNvSpPr/>
          <p:nvPr/>
        </p:nvSpPr>
        <p:spPr>
          <a:xfrm>
            <a:off x="9418320" y="5522976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F59E0B">
              <a:alpha val="60000"/>
            </a:srgbClr>
          </a:solidFill>
          <a:ln/>
        </p:spPr>
      </p:sp>
      <p:sp>
        <p:nvSpPr>
          <p:cNvPr id="106" name="Shape 103"/>
          <p:cNvSpPr/>
          <p:nvPr/>
        </p:nvSpPr>
        <p:spPr>
          <a:xfrm>
            <a:off x="457200" y="5733288"/>
            <a:ext cx="11274552" cy="246888"/>
          </a:xfrm>
          <a:prstGeom prst="rect">
            <a:avLst/>
          </a:prstGeom>
          <a:solidFill>
            <a:srgbClr val="111520">
              <a:alpha val="50000"/>
            </a:srgbClr>
          </a:solidFill>
          <a:ln/>
        </p:spPr>
      </p:sp>
      <p:sp>
        <p:nvSpPr>
          <p:cNvPr id="107" name="Text 104"/>
          <p:cNvSpPr/>
          <p:nvPr/>
        </p:nvSpPr>
        <p:spPr>
          <a:xfrm>
            <a:off x="457200" y="574243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E2E Security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5029200" y="574243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09" name="Text 106"/>
          <p:cNvSpPr/>
          <p:nvPr/>
        </p:nvSpPr>
        <p:spPr>
          <a:xfrm>
            <a:off x="6400800" y="574243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7772400" y="574243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Designed</a:t>
            </a:r>
            <a:endParaRPr lang="en-US" sz="900" dirty="0"/>
          </a:p>
        </p:txBody>
      </p:sp>
      <p:sp>
        <p:nvSpPr>
          <p:cNvPr id="111" name="Shape 108"/>
          <p:cNvSpPr/>
          <p:nvPr/>
        </p:nvSpPr>
        <p:spPr>
          <a:xfrm>
            <a:off x="9418320" y="5769864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61B2A"/>
          </a:solidFill>
          <a:ln/>
        </p:spPr>
      </p:sp>
      <p:sp>
        <p:nvSpPr>
          <p:cNvPr id="112" name="Shape 109"/>
          <p:cNvSpPr/>
          <p:nvPr/>
        </p:nvSpPr>
        <p:spPr>
          <a:xfrm>
            <a:off x="9418320" y="5769864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F59E0B">
              <a:alpha val="60000"/>
            </a:srgbClr>
          </a:solidFill>
          <a:ln/>
        </p:spPr>
      </p:sp>
      <p:sp>
        <p:nvSpPr>
          <p:cNvPr id="113" name="Text 110"/>
          <p:cNvSpPr/>
          <p:nvPr/>
        </p:nvSpPr>
        <p:spPr>
          <a:xfrm>
            <a:off x="457200" y="5989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E2E Settings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5029200" y="5989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15" name="Text 112"/>
          <p:cNvSpPr/>
          <p:nvPr/>
        </p:nvSpPr>
        <p:spPr>
          <a:xfrm>
            <a:off x="6400800" y="5989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7772400" y="5989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Designed</a:t>
            </a:r>
            <a:endParaRPr lang="en-US" sz="900" dirty="0"/>
          </a:p>
        </p:txBody>
      </p:sp>
      <p:sp>
        <p:nvSpPr>
          <p:cNvPr id="117" name="Shape 114"/>
          <p:cNvSpPr/>
          <p:nvPr/>
        </p:nvSpPr>
        <p:spPr>
          <a:xfrm>
            <a:off x="9418320" y="6016752"/>
            <a:ext cx="1371600" cy="146304"/>
          </a:xfrm>
          <a:prstGeom prst="roundRect">
            <a:avLst>
              <a:gd name="adj" fmla="val 50000"/>
            </a:avLst>
          </a:prstGeom>
          <a:solidFill>
            <a:srgbClr val="161B2A"/>
          </a:solidFill>
          <a:ln/>
        </p:spPr>
      </p:sp>
      <p:sp>
        <p:nvSpPr>
          <p:cNvPr id="118" name="Shape 115"/>
          <p:cNvSpPr/>
          <p:nvPr/>
        </p:nvSpPr>
        <p:spPr>
          <a:xfrm>
            <a:off x="9418320" y="6016752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F59E0B">
              <a:alpha val="60000"/>
            </a:srgbClr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/Users/nathanrozendaal/talos-siteconnect/public/t6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20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TalOS SiteConnect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24712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RUST TESTS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Rust Backend — 23/23 Tests Passing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111520"/>
          </a:solidFill>
          <a:ln w="63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Screening Rules (9)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7432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test_age_range_pass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30906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test_age_range_fail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4381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test_has_diagnosis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7856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test_no_diagnosis_pass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41330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test_lab_value_range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44805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test_missing_data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48280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test_and_rule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51755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test_or_rule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" y="55229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test_rule_serialization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343400" y="219456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111520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52628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Engine + Audit (6)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26280" y="27432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test_screen_patient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26280" y="30906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test_screen_all_patients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26280" y="34381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test_write_audit_entry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26280" y="37856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test_audit_chain_integrity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26280" y="41330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test_audit_chain_detects_tampering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26280" y="44805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test_empty_audit_chain_verifies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229600" y="2194560"/>
            <a:ext cx="3502152" cy="4206240"/>
          </a:xfrm>
          <a:prstGeom prst="roundRect">
            <a:avLst>
              <a:gd name="adj" fmla="val 3133"/>
            </a:avLst>
          </a:prstGeom>
          <a:solidFill>
            <a:srgbClr val="111520"/>
          </a:solidFill>
          <a:ln w="63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41248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DB + Import (8)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412480" y="27432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test_init_database_in_memory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412480" y="30906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test_seed_if_empty_inserts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412480" y="343814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test_seed_idempotent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412480" y="378561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test_normalize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412480" y="41330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test_exact_match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412480" y="44805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test_auto_map_common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412480" y="482803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test_auto_map_epic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412480" y="517550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test_no_duplicate_targets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/Users/nathanrozendaal/talos-siteconnect/public/t6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20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TalOS SiteConnect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24712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TypeScript — 103/103 Tests Passing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457200" y="2057400"/>
            <a:ext cx="11274552" cy="429768"/>
          </a:xfrm>
          <a:prstGeom prst="roundRect">
            <a:avLst>
              <a:gd name="adj" fmla="val 25532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130552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1305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234440" y="208483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use-screening-store.test.ts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234440" y="226771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selection, filtering, status counts, review actions, overrides, highlights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2569464"/>
            <a:ext cx="11274552" cy="429768"/>
          </a:xfrm>
          <a:prstGeom prst="roundRect">
            <a:avLst>
              <a:gd name="adj" fmla="val 25532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2642616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26426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234440" y="259689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financial-engine.test.ts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234440" y="2779776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Archetype detection, catalog, procedures, modeling, scenarios, currency, color helpers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3081528"/>
            <a:ext cx="11274552" cy="429768"/>
          </a:xfrm>
          <a:prstGeom prst="roundRect">
            <a:avLst>
              <a:gd name="adj" fmla="val 25532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0080" y="31546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3154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234440" y="31089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use-app-store.test.ts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234440" y="3291840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Navigation (10 pages), session lock/unlock, theme toggle, app status updates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" y="3593592"/>
            <a:ext cx="11274552" cy="429768"/>
          </a:xfrm>
          <a:prstGeom prst="roundRect">
            <a:avLst>
              <a:gd name="adj" fmla="val 25532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0080" y="3666744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36667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234440" y="362102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population-analytics.test.ts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234440" y="38039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Feasibility queries, enrollment forecast, diversity profile, presets, lab thresholds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7200" y="4105656"/>
            <a:ext cx="11274552" cy="429768"/>
          </a:xfrm>
          <a:prstGeom prst="roundRect">
            <a:avLst>
              <a:gd name="adj" fmla="val 25532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080" y="417880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41788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234440" y="413308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use-analytics-store.test.ts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234440" y="4315968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 management, drill-down navigation, snapshot save/clear, compare mode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57200" y="4617720"/>
            <a:ext cx="11274552" cy="429768"/>
          </a:xfrm>
          <a:prstGeom prst="roundRect">
            <a:avLst>
              <a:gd name="adj" fmla="val 25532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40080" y="4690872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0080" y="46908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234440" y="464515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export-csv.test.ts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234440" y="4828032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CSV generation, quote escaping, status filtering, detailed export, empty data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5129784"/>
            <a:ext cx="11274552" cy="429768"/>
          </a:xfrm>
          <a:prstGeom prst="roundRect">
            <a:avLst>
              <a:gd name="adj" fmla="val 25532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40080" y="5202936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0080" y="520293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234440" y="51572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use-site-profile-store.test.ts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234440" y="5340096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 updates (research/ops/financial), onboarding, localStorage persistence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57200" y="5641848"/>
            <a:ext cx="11274552" cy="429768"/>
          </a:xfrm>
          <a:prstGeom prst="roundRect">
            <a:avLst>
              <a:gd name="adj" fmla="val 25532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40080" y="571500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0080" y="5715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1234440" y="56692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pdf-export.test.ts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1234440" y="5852160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wrapping, print styles, @page rules, @media print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457200" y="6080760"/>
            <a:ext cx="10515600" cy="274320"/>
          </a:xfrm>
          <a:prstGeom prst="roundRect">
            <a:avLst>
              <a:gd name="adj" fmla="val 40000"/>
            </a:avLst>
          </a:prstGeom>
          <a:solidFill>
            <a:srgbClr val="0C0F17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640080" y="60807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TOTAL: </a:t>
            </a:r>
            <a:pPr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test files  ·  103 tests  ·  </a:t>
            </a:r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PASSING</a:t>
            </a:r>
            <a:pPr indent="0" marL="0">
              <a:buNone/>
            </a:pPr>
            <a:r>
              <a:rPr lang="en-US" sz="10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  Duration: 2.73s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/Users/nathanrozendaal/talos-siteconnect/public/t6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20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TalOS SiteConnect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24712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170432" cy="292608"/>
          </a:xfrm>
          <a:prstGeom prst="roundRect">
            <a:avLst>
              <a:gd name="adj" fmla="val 50000"/>
            </a:avLst>
          </a:prstGeom>
          <a:solidFill>
            <a:srgbClr val="6366F1">
              <a:alpha val="12000"/>
            </a:srgbClr>
          </a:solidFill>
          <a:ln w="635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From EHR Data to Enrolled Patient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111520"/>
          </a:solidFill>
          <a:ln w="63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80160" y="2514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Import Patient Data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" y="31089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Drag and drop CSV exports from Epic, Cerner, or any EHR. Smart column mapping auto-detects demographics, diagnoses, medications, labs, and vitals.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Auto-detect column mappings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4663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ICD-10, RxNorm, LOINC support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5029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to 50,000 records per file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1148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4297680" y="228600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111520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480560" y="2468880"/>
            <a:ext cx="502920" cy="50292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8056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20640" y="2514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Screen Against Trials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526280" y="31089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a study and instantly see every patient ranked by eligibility score. Two-tier AI evaluates all criteria with evidence linking.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26280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Three-panel review workspace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26280" y="4663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Keyboard shortcuts (A/R/D)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26280" y="5029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confidence + evidence links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9552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8138160" y="228600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111520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321040" y="2468880"/>
            <a:ext cx="502920" cy="50292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210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961120" y="2514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Report &amp; Enroll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8366760" y="31089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feasibility reports, sponsor pitch decks, and enrollment projections. Track patients through the enrollment pipeline.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366760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reports with site branding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366760" y="4663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projections per trial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366760" y="5029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Enrollment pipeline tracking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3" name="Image 0" descr="/Users/nathanrozendaal/talos-siteconnect/public/t6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20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TalOS SiteConnect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24712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A855F7">
              <a:alpha val="12000"/>
            </a:srgbClr>
          </a:solidFill>
          <a:ln w="635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TRACEABILITY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Requirements Traceability Matrix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57200" y="2011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requirement (PRD-xxx) maps to test cases (TC-xxx) with bidirectional traceability.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514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103120" y="2514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58368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778240" y="2514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515600" y="2514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2788920"/>
            <a:ext cx="11274552" cy="9144"/>
          </a:xfrm>
          <a:prstGeom prst="rect">
            <a:avLst/>
          </a:prstGeom>
          <a:solidFill>
            <a:srgbClr val="1A1F30"/>
          </a:solidFill>
          <a:ln/>
        </p:spPr>
      </p:sp>
      <p:sp>
        <p:nvSpPr>
          <p:cNvPr id="16" name="Shape 13"/>
          <p:cNvSpPr/>
          <p:nvPr/>
        </p:nvSpPr>
        <p:spPr>
          <a:xfrm>
            <a:off x="457200" y="2862072"/>
            <a:ext cx="11274552" cy="256032"/>
          </a:xfrm>
          <a:prstGeom prst="rect">
            <a:avLst/>
          </a:prstGeom>
          <a:solidFill>
            <a:srgbClr val="111520">
              <a:alpha val="5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88036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PRD-SCR-001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103120" y="2880360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rule-based screening (9 types)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583680" y="288036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TC-SCR-001→017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778240" y="288036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313639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PRD-SCR-002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103120" y="31363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Screening result classification (4 statuses)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583680" y="313639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TC-SCR-018→021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778240" y="313639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374136"/>
            <a:ext cx="11274552" cy="256032"/>
          </a:xfrm>
          <a:prstGeom prst="rect">
            <a:avLst/>
          </a:prstGeom>
          <a:solidFill>
            <a:srgbClr val="111520">
              <a:alpha val="5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339242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PRD-SEC-001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103120" y="3392424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AES-256 SQLCipher encryption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583680" y="339242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TC-SEC-001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778240" y="339242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57200" y="364845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PRD-AUD-002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2103120" y="36484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HMAC chain integrity verification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583680" y="364845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TC-AUD-002→006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778240" y="364845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57200" y="3886200"/>
            <a:ext cx="11274552" cy="256032"/>
          </a:xfrm>
          <a:prstGeom prst="rect">
            <a:avLst/>
          </a:prstGeom>
          <a:solidFill>
            <a:srgbClr val="111520">
              <a:alpha val="50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390448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PRD-IMP-002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2103120" y="3904488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column auto-mapping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583680" y="39044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TC-IMP-004→008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778240" y="390448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57200" y="416052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PRD-FIN-001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2103120" y="4160520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therapeutic archetypes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583680" y="416052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TC-FIN-001→002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778240" y="416052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57200" y="4398264"/>
            <a:ext cx="11274552" cy="256032"/>
          </a:xfrm>
          <a:prstGeom prst="rect">
            <a:avLst/>
          </a:prstGeom>
          <a:solidFill>
            <a:srgbClr val="111520">
              <a:alpha val="50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4165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PRD-FIN-004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2103120" y="441655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Three-scenario financial model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583680" y="441655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TC-FIN-004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8778240" y="44165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457200" y="467258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PRD-ANL-010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2103120" y="4672584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Feasibility query execution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583680" y="467258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TC-ANL-010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8778240" y="467258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57200" y="4910328"/>
            <a:ext cx="11274552" cy="256032"/>
          </a:xfrm>
          <a:prstGeom prst="rect">
            <a:avLst/>
          </a:prstGeom>
          <a:solidFill>
            <a:srgbClr val="111520">
              <a:alpha val="50000"/>
            </a:srgbClr>
          </a:solidFill>
          <a:ln/>
        </p:spPr>
      </p:sp>
      <p:sp>
        <p:nvSpPr>
          <p:cNvPr id="53" name="Text 50"/>
          <p:cNvSpPr/>
          <p:nvPr/>
        </p:nvSpPr>
        <p:spPr>
          <a:xfrm>
            <a:off x="457200" y="492861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PRD-ANL-012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2103120" y="492861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Diversity profile computation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6583680" y="492861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TC-ANL-012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8778240" y="492861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457200" y="518464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PRD-EXP-001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2103120" y="5184648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CSV export with filtering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6583680" y="518464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TC-EXP-001→003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8778240" y="518464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457200" y="5422392"/>
            <a:ext cx="11274552" cy="256032"/>
          </a:xfrm>
          <a:prstGeom prst="rect">
            <a:avLst/>
          </a:prstGeom>
          <a:solidFill>
            <a:srgbClr val="111520">
              <a:alpha val="50000"/>
            </a:srgbClr>
          </a:solidFill>
          <a:ln/>
        </p:spPr>
      </p:sp>
      <p:sp>
        <p:nvSpPr>
          <p:cNvPr id="62" name="Text 59"/>
          <p:cNvSpPr/>
          <p:nvPr/>
        </p:nvSpPr>
        <p:spPr>
          <a:xfrm>
            <a:off x="457200" y="544068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PRD-LLM-001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2103120" y="5440680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Sidecar architecture (127.0.0.1)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6583680" y="54406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TC-LLM-001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8778240" y="544068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Designed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457200" y="569671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PRD-PFM-003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2103120" y="569671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patient screening &lt;100ms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6583680" y="569671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TC-PFM-003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8778240" y="569671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Designed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457200" y="6080760"/>
            <a:ext cx="10515600" cy="274320"/>
          </a:xfrm>
          <a:prstGeom prst="roundRect">
            <a:avLst>
              <a:gd name="adj" fmla="val 40000"/>
            </a:avLst>
          </a:prstGeom>
          <a:solidFill>
            <a:srgbClr val="0C0F17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71" name="Text 68"/>
          <p:cNvSpPr/>
          <p:nvPr/>
        </p:nvSpPr>
        <p:spPr>
          <a:xfrm>
            <a:off x="640080" y="60807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RTM: 94 requirements → 106 test cases — see docs/validation/REQUIREMENTS-TRACEABILITY-MATRIX.md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/Users/nathanrozendaal/talos-siteconnect/public/t6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20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TalOS SiteConnect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24712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069848" cy="292608"/>
          </a:xfrm>
          <a:prstGeom prst="roundRect">
            <a:avLst>
              <a:gd name="adj" fmla="val 50000"/>
            </a:avLst>
          </a:prstGeom>
          <a:solidFill>
            <a:srgbClr val="6366F1">
              <a:alpha val="12000"/>
            </a:srgbClr>
          </a:solidFill>
          <a:ln w="635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1069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111520"/>
          </a:solidFill>
          <a:ln w="63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103120"/>
            <a:ext cx="35661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286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NOW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" y="2834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 Rust tests + 103 TS unit tests passing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3337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 E2E test specs designed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3840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IQ/OQ/PQ validation documentation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4343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Zephyr Scale integration for test reporting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97680" y="210312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111520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97680" y="2103120"/>
            <a:ext cx="35661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526280" y="2286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NEXT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26280" y="2834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FHIR R4 / CDA / HL7v2 data parsers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26280" y="3337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E2E test execution with Playwright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26280" y="3840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qualification benchmarks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26280" y="4343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Tauri build signing &amp; notarization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138160" y="210312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111520"/>
          </a:solidFill>
          <a:ln w="63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138160" y="2103120"/>
            <a:ext cx="356616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2286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FUTURE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366760" y="2834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 network multi-tenant analytics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366760" y="3337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Sponsor marketplace integration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366760" y="3840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EHR monitoring (file watcher)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366760" y="4343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Multi-site cohort federation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457200"/>
            <a:ext cx="5486400" cy="5486400"/>
          </a:xfrm>
          <a:prstGeom prst="ellipse">
            <a:avLst/>
          </a:prstGeom>
          <a:solidFill>
            <a:srgbClr val="6366F1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/Users/nathanrozendaal/talos-siteconnect/public/t6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6459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9260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TalOS SiteConnect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828800" y="3749040"/>
            <a:ext cx="8531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on-premise screening engine that turns your EHR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A8B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into a patient-finding machine.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4937760"/>
            <a:ext cx="5788152" cy="1097280"/>
          </a:xfrm>
          <a:prstGeom prst="roundRect">
            <a:avLst>
              <a:gd name="adj" fmla="val 10000"/>
            </a:avLst>
          </a:prstGeom>
          <a:solidFill>
            <a:srgbClr val="111520"/>
          </a:solidFill>
          <a:ln w="6350">
            <a:solidFill>
              <a:srgbClr val="1A1F3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383280" y="5029200"/>
            <a:ext cx="5422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Ready to transform your site's screening workflow?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383280" y="5440680"/>
            <a:ext cx="5422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talosix.com  ·  hello@talosix.com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640080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 — March 2026  ·  © Talosix Inc.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Talosix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TalOS SiteConnect</dc:title>
  <dc:subject>TalOS SiteConnect — Product &amp; Validation Overview</dc:subject>
  <dc:creator>Talosix</dc:creator>
  <cp:lastModifiedBy>Talosix</cp:lastModifiedBy>
  <cp:revision>1</cp:revision>
  <dcterms:created xsi:type="dcterms:W3CDTF">2026-03-09T04:57:35Z</dcterms:created>
  <dcterms:modified xsi:type="dcterms:W3CDTF">2026-03-09T04:57:35Z</dcterms:modified>
</cp:coreProperties>
</file>